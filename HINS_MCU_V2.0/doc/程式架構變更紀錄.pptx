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2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4B0563-1BC0-CDB0-847B-6122FEF21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DF98F0-2F3E-F18C-E63B-ED3C7043A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85E711-DEE0-BC44-4DDD-4F848307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4C7295-C3F5-5714-D4CD-1EE3C0FC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329E5F-78A9-0A85-AAC0-18A14984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40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54C082-49B7-7C2B-7A77-A03E9BD9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331187-E84B-5268-4D16-5300A2D30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54DCC7-8175-FC39-A359-B3474F0B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C56526-33F1-6838-F197-E68E9E78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0B9B8E-FFD2-BB0F-B8D1-FD05A2AF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64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20364-0521-AEC0-CFA0-FCFA46EC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E130AA-A290-DA9E-700A-FEC0BA5C4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46888B-8C68-D9F1-67EF-5F1675E1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E60DF2-1F6D-17CE-70D8-EA8618CE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70D69B-0B42-6917-1C9B-4FB3DE5E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65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3F15F-5B7D-AFA1-7AB9-95D46094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228409-138B-27DD-2727-540660C2A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081BF7-8FFC-0154-2F95-73FB512D2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6B6B4F-3BB5-8936-5189-F7B070CB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F378BC-72AB-2546-D15B-1AE49B05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4589969-3D19-7061-A8EC-06471625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99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ECBA43-BD5B-885B-3976-10CE8712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22ED8C-5AEE-BCD4-2AAD-12A23D41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F9B31D-55AD-4EA1-4A40-EEA322DE1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78769EC-FB3A-E608-336A-8513F53BB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6A0CEA-FD1C-D7FB-6E7B-465A2035D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1933753-403D-A82B-D6E4-9E88EFC5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3E73589-0424-A67D-A307-26DD5175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218B3F-F042-031E-F297-16536160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1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C9EAD-E3E1-AFD8-C8EE-5FC71E442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1441143-E1B8-5C39-5EE0-F6CB2AE4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F4D773C-43EE-DBFB-AB18-192C99E8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7DF4AC8-447B-3927-9C04-814B4530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16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C15BE7-1287-051C-AAB8-6F8B0353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AE3BD0-94AE-E5FB-7031-2395308D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0E2305-05CB-BC8F-51A5-371D0FA4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75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B43DD-1F0E-4BCA-5252-A163ABFB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72A0DC-F4BC-9115-5F42-9D71DAFC9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CBCF2A-77C5-9B29-422E-DF1466D04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1F0987-4D13-5E0C-E95B-50D580BF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E6B869-3F19-96C7-53FE-223BE74B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4FF33D-E0D5-E1D2-7EF5-C5308587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18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C345A7-D454-9F64-20F2-A09CBC59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658918D-581F-5B4B-B85B-0E3650756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72EFEB1-B4EF-B08D-64BD-8DF91AA7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965C23-F24C-6EBA-1C68-A9FE0386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F182CE-C951-614B-5592-FD97E7E9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932FCF-D991-BA1D-439C-C8B145DC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16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2BE7B4-4861-A54B-157A-43B3E124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8EB221-4AB9-D8C2-5730-DF32C917B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CD0D22-FCEF-0BCE-4E30-C85E7AFF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5D26C1-4A40-F82E-6F03-B0506B0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8C286E-3491-8282-214A-97033289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01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77CBCF9-780D-52EF-6652-7E9D2C75E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AD8FB8-9859-B09B-C9B3-B32C90F9B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E212ED-9FC4-866A-082B-3C567AB2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3E5033-E7D6-E4DA-1A7C-F4443E9A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A6437F-B1F3-D5E2-49EA-02357CB1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15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E620FB0-C149-715C-253E-E3CCE58B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2BB482-503D-6422-F1A4-A9E122D3E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A53179-4A49-CF05-89C0-ABA0EC68B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0281FE-067B-EBC2-24F9-A183F4E5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D8E96B-302E-E5E3-E388-5EDC20431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63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0A54926-5FD8-A43A-5004-E6E4FF842833}"/>
              </a:ext>
            </a:extLst>
          </p:cNvPr>
          <p:cNvSpPr txBox="1"/>
          <p:nvPr/>
        </p:nvSpPr>
        <p:spPr>
          <a:xfrm>
            <a:off x="249381" y="25415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/>
              <a:t>新增：</a:t>
            </a:r>
            <a:endParaRPr lang="zh-TW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>
                <a:latin typeface="Courier New" panose="02070309020205020404" pitchFamily="49" charset="0"/>
              </a:rPr>
              <a:t>src/app/app_state.h</a:t>
            </a:r>
            <a:endParaRPr lang="en-US" altLang="zh-TW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>
                <a:latin typeface="Courier New" panose="02070309020205020404" pitchFamily="49" charset="0"/>
              </a:rPr>
              <a:t>src/app/app_state.cpp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83C71B7-9003-7C6A-D1B1-964EB2944EC1}"/>
              </a:ext>
            </a:extLst>
          </p:cNvPr>
          <p:cNvSpPr txBox="1"/>
          <p:nvPr/>
        </p:nvSpPr>
        <p:spPr>
          <a:xfrm>
            <a:off x="314036" y="15823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做法：</a:t>
            </a:r>
            <a:br>
              <a:rPr lang="zh-TW" altLang="en-US" dirty="0"/>
            </a:br>
            <a:r>
              <a:rPr lang="zh-TW" altLang="en-US" dirty="0"/>
              <a:t>把所有全域「實體」集中到 </a:t>
            </a:r>
            <a:r>
              <a:rPr lang="en-US" altLang="zh-TW" dirty="0">
                <a:latin typeface="Courier New" panose="02070309020205020404" pitchFamily="49" charset="0"/>
              </a:rPr>
              <a:t>app_state.cpp</a:t>
            </a:r>
            <a:r>
              <a:rPr lang="en-US" altLang="zh-TW" dirty="0"/>
              <a:t> </a:t>
            </a:r>
            <a:r>
              <a:rPr lang="zh-TW" altLang="en-US" b="1" dirty="0"/>
              <a:t>只留一份真身</a:t>
            </a:r>
            <a:r>
              <a:rPr lang="zh-TW" altLang="en-US" dirty="0"/>
              <a:t>，其他地方只透過 </a:t>
            </a:r>
            <a:r>
              <a:rPr lang="en-US" altLang="zh-TW" dirty="0">
                <a:latin typeface="Courier New" panose="02070309020205020404" pitchFamily="49" charset="0"/>
              </a:rPr>
              <a:t>extern</a:t>
            </a:r>
            <a:r>
              <a:rPr lang="en-US" altLang="zh-TW" dirty="0"/>
              <a:t> </a:t>
            </a:r>
            <a:r>
              <a:rPr lang="zh-TW" altLang="en-US" dirty="0"/>
              <a:t>看到它。</a:t>
            </a:r>
          </a:p>
          <a:p>
            <a:pPr>
              <a:buNone/>
            </a:pPr>
            <a:r>
              <a:rPr lang="zh-TW" altLang="en-US" dirty="0"/>
              <a:t>集中定義的東西包含：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cmd_ctrl_t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g_cmd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auto_rst_t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g_auto_rst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Courier New" panose="02070309020205020404" pitchFamily="49" charset="0"/>
              </a:rPr>
              <a:t>fog_parameter_t </a:t>
            </a:r>
            <a:r>
              <a:rPr lang="en-US" altLang="zh-TW" dirty="0" err="1">
                <a:latin typeface="Courier New" panose="02070309020205020404" pitchFamily="49" charset="0"/>
              </a:rPr>
              <a:t>g_fog_params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fn_ptr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g_output_fn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Courier New" panose="02070309020205020404" pitchFamily="49" charset="0"/>
              </a:rPr>
              <a:t>Madgwick </a:t>
            </a:r>
            <a:r>
              <a:rPr lang="en-US" altLang="zh-TW" dirty="0" err="1">
                <a:latin typeface="Courier New" panose="02070309020205020404" pitchFamily="49" charset="0"/>
              </a:rPr>
              <a:t>ahrs_attitude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並把 </a:t>
            </a:r>
            <a:r>
              <a:rPr lang="en-US" altLang="zh-TW" dirty="0">
                <a:latin typeface="Courier New" panose="02070309020205020404" pitchFamily="49" charset="0"/>
              </a:rPr>
              <a:t>.</a:t>
            </a:r>
            <a:r>
              <a:rPr lang="en-US" altLang="zh-TW" dirty="0" err="1">
                <a:latin typeface="Courier New" panose="02070309020205020404" pitchFamily="49" charset="0"/>
              </a:rPr>
              <a:t>ino</a:t>
            </a:r>
            <a:r>
              <a:rPr lang="en-US" altLang="zh-TW" dirty="0"/>
              <a:t> </a:t>
            </a:r>
            <a:r>
              <a:rPr lang="zh-TW" altLang="en-US" dirty="0"/>
              <a:t>以及其他模組改成統一用 </a:t>
            </a:r>
            <a:r>
              <a:rPr lang="en-US" altLang="zh-TW" dirty="0">
                <a:latin typeface="Courier New" panose="02070309020205020404" pitchFamily="49" charset="0"/>
              </a:rPr>
              <a:t>g_*</a:t>
            </a:r>
            <a:r>
              <a:rPr lang="en-US" altLang="zh-TW" dirty="0"/>
              <a:t> </a:t>
            </a:r>
            <a:r>
              <a:rPr lang="zh-TW" altLang="en-US" dirty="0"/>
              <a:t>來拿狀態。</a:t>
            </a:r>
          </a:p>
          <a:p>
            <a:pPr>
              <a:buNone/>
            </a:pPr>
            <a:r>
              <a:rPr lang="zh-TW" altLang="en-US" b="1" dirty="0"/>
              <a:t>結果：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全域狀態變成「單一實體」，避免多重定義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後面要拆 </a:t>
            </a:r>
            <a:r>
              <a:rPr lang="en-US" altLang="zh-TW" dirty="0">
                <a:latin typeface="Courier New" panose="02070309020205020404" pitchFamily="49" charset="0"/>
              </a:rPr>
              <a:t>common</a:t>
            </a:r>
            <a:r>
              <a:rPr lang="en-US" altLang="zh-TW" dirty="0"/>
              <a:t> </a:t>
            </a:r>
            <a:r>
              <a:rPr lang="zh-TW" altLang="en-US" dirty="0"/>
              <a:t>才拆得動</a:t>
            </a:r>
          </a:p>
        </p:txBody>
      </p:sp>
    </p:spTree>
    <p:extLst>
      <p:ext uri="{BB962C8B-B14F-4D97-AF65-F5344CB8AC3E}">
        <p14:creationId xmlns:p14="http://schemas.microsoft.com/office/powerpoint/2010/main" val="11955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53C9-6D73-F13C-7D29-44916812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E08048E-8900-0DC9-AE02-70FD52E90570}"/>
              </a:ext>
            </a:extLst>
          </p:cNvPr>
          <p:cNvSpPr txBox="1"/>
          <p:nvPr/>
        </p:nvSpPr>
        <p:spPr>
          <a:xfrm>
            <a:off x="471055" y="32845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拆出第一個 </a:t>
            </a:r>
            <a:r>
              <a:rPr lang="en-US" altLang="zh-TW" b="1" dirty="0"/>
              <a:t>utils </a:t>
            </a:r>
            <a:r>
              <a:rPr lang="zh-TW" altLang="en-US" b="1" dirty="0"/>
              <a:t>模組（</a:t>
            </a:r>
            <a:r>
              <a:rPr lang="en-US" altLang="zh-TW" b="1" dirty="0" err="1"/>
              <a:t>serial_printf</a:t>
            </a:r>
            <a:r>
              <a:rPr lang="zh-TW" altLang="en-US" b="1" dirty="0"/>
              <a:t>）</a:t>
            </a:r>
          </a:p>
          <a:p>
            <a:pPr>
              <a:buNone/>
            </a:pPr>
            <a:r>
              <a:rPr lang="zh-TW" altLang="en-US" dirty="0"/>
              <a:t>這一步是我們驗證「拆模組的方式」可複製，並順便踩到</a:t>
            </a:r>
            <a:r>
              <a:rPr lang="en-US" altLang="zh-TW" dirty="0"/>
              <a:t>/</a:t>
            </a:r>
            <a:r>
              <a:rPr lang="zh-TW" altLang="en-US" dirty="0"/>
              <a:t>解掉 </a:t>
            </a:r>
            <a:r>
              <a:rPr lang="en-US" altLang="zh-TW" dirty="0"/>
              <a:t>Arduino C/C++ linkage </a:t>
            </a:r>
            <a:r>
              <a:rPr lang="zh-TW" altLang="en-US" dirty="0"/>
              <a:t>的坑。</a:t>
            </a:r>
          </a:p>
          <a:p>
            <a:pPr>
              <a:buNone/>
            </a:pPr>
            <a:r>
              <a:rPr lang="zh-TW" altLang="en-US" b="1" dirty="0"/>
              <a:t>新增：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src</a:t>
            </a:r>
            <a:r>
              <a:rPr lang="en-US" altLang="zh-TW" dirty="0">
                <a:latin typeface="Courier New" panose="02070309020205020404" pitchFamily="49" charset="0"/>
              </a:rPr>
              <a:t>/utils/</a:t>
            </a:r>
            <a:r>
              <a:rPr lang="en-US" altLang="zh-TW" dirty="0" err="1">
                <a:latin typeface="Courier New" panose="02070309020205020404" pitchFamily="49" charset="0"/>
              </a:rPr>
              <a:t>serial_printf.h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src</a:t>
            </a:r>
            <a:r>
              <a:rPr lang="en-US" altLang="zh-TW" dirty="0">
                <a:latin typeface="Courier New" panose="02070309020205020404" pitchFamily="49" charset="0"/>
              </a:rPr>
              <a:t>/utils/serial_printf.cpp</a:t>
            </a:r>
            <a:endParaRPr lang="en-US" altLang="zh-TW" dirty="0"/>
          </a:p>
          <a:p>
            <a:pPr>
              <a:buNone/>
            </a:pPr>
            <a:r>
              <a:rPr lang="zh-TW" altLang="en-US" b="1" dirty="0"/>
              <a:t>搬出去的內容：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serial_printf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serial_vprintf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serial_set_stream</a:t>
            </a:r>
            <a:endParaRPr lang="en-US" altLang="zh-TW" dirty="0"/>
          </a:p>
          <a:p>
            <a:pPr>
              <a:buNone/>
            </a:pPr>
            <a:r>
              <a:rPr lang="en-US" altLang="zh-TW" dirty="0" err="1">
                <a:latin typeface="Courier New" panose="02070309020205020404" pitchFamily="49" charset="0"/>
              </a:rPr>
              <a:t>common.h</a:t>
            </a:r>
            <a:r>
              <a:rPr lang="en-US" altLang="zh-TW" dirty="0"/>
              <a:t> </a:t>
            </a:r>
            <a:r>
              <a:rPr lang="zh-TW" altLang="en-US" dirty="0"/>
              <a:t>只保留 </a:t>
            </a:r>
            <a:r>
              <a:rPr lang="en-US" altLang="zh-TW" dirty="0"/>
              <a:t>include </a:t>
            </a:r>
            <a:r>
              <a:rPr lang="zh-TW" altLang="en-US" dirty="0"/>
              <a:t>新 </a:t>
            </a:r>
            <a:r>
              <a:rPr lang="en-US" altLang="zh-TW" dirty="0"/>
              <a:t>header</a:t>
            </a:r>
            <a:r>
              <a:rPr lang="zh-TW" altLang="en-US" dirty="0"/>
              <a:t>（而不是把 </a:t>
            </a:r>
            <a:r>
              <a:rPr lang="en-US" altLang="zh-TW" dirty="0" err="1"/>
              <a:t>printf</a:t>
            </a:r>
            <a:r>
              <a:rPr lang="en-US" altLang="zh-TW" dirty="0"/>
              <a:t> </a:t>
            </a:r>
            <a:r>
              <a:rPr lang="zh-TW" altLang="en-US" dirty="0"/>
              <a:t>實作塞在 </a:t>
            </a:r>
            <a:r>
              <a:rPr lang="en-US" altLang="zh-TW" dirty="0"/>
              <a:t>common </a:t>
            </a:r>
            <a:r>
              <a:rPr lang="zh-TW" altLang="en-US" dirty="0"/>
              <a:t>裡）。</a:t>
            </a:r>
          </a:p>
        </p:txBody>
      </p:sp>
    </p:spTree>
    <p:extLst>
      <p:ext uri="{BB962C8B-B14F-4D97-AF65-F5344CB8AC3E}">
        <p14:creationId xmlns:p14="http://schemas.microsoft.com/office/powerpoint/2010/main" val="227610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9716-B8A6-3C5F-72D9-CE83DBA2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6CCB920-7C45-D7AE-668A-6009F442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1104575"/>
            <a:ext cx="6173061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8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59BF-502C-D441-4390-E19C45C0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BA26ADD-FEFA-C0F5-69F7-0638CBAC4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90" y="1823813"/>
            <a:ext cx="6049219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2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24C6B-A38E-9DCF-62DC-FD7B0C6B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1E798E8D-C2A4-6E75-0C86-DB963D543C75}"/>
              </a:ext>
            </a:extLst>
          </p:cNvPr>
          <p:cNvGrpSpPr/>
          <p:nvPr/>
        </p:nvGrpSpPr>
        <p:grpSpPr>
          <a:xfrm>
            <a:off x="313518" y="137971"/>
            <a:ext cx="6763694" cy="6582058"/>
            <a:chOff x="313518" y="137971"/>
            <a:chExt cx="6763694" cy="6582058"/>
          </a:xfrm>
        </p:grpSpPr>
        <p:pic>
          <p:nvPicPr>
            <p:cNvPr id="3" name="圖片 2" descr="一張含有 文字, 螢幕擷取畫面, 字型 的圖片&#10;&#10;AI 產生的內容可能不正確。">
              <a:extLst>
                <a:ext uri="{FF2B5EF4-FFF2-40B4-BE49-F238E27FC236}">
                  <a16:creationId xmlns:a16="http://schemas.microsoft.com/office/drawing/2014/main" id="{E7B5F0C6-086F-FB8F-630C-CB9B9A8E0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518" y="137971"/>
              <a:ext cx="5782482" cy="4991797"/>
            </a:xfrm>
            <a:prstGeom prst="rect">
              <a:avLst/>
            </a:prstGeom>
          </p:spPr>
        </p:pic>
        <p:pic>
          <p:nvPicPr>
            <p:cNvPr id="5" name="圖片 4" descr="一張含有 文字, 收據, 字型, 白色 的圖片&#10;&#10;AI 產生的內容可能不正確。">
              <a:extLst>
                <a:ext uri="{FF2B5EF4-FFF2-40B4-BE49-F238E27FC236}">
                  <a16:creationId xmlns:a16="http://schemas.microsoft.com/office/drawing/2014/main" id="{78556F78-A5AB-8ED5-3381-BF6E48371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518" y="5129132"/>
              <a:ext cx="6763694" cy="1590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202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B13A-E81D-FFD3-1DC4-211266BD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9887F55-B8CA-0976-AC89-486DFB401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3" y="0"/>
            <a:ext cx="5163271" cy="6687483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9774329-5E0E-0283-E2F2-02541A277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124655"/>
            <a:ext cx="4429379" cy="4703220"/>
          </a:xfrm>
          <a:prstGeom prst="rect">
            <a:avLst/>
          </a:prstGeom>
        </p:spPr>
      </p:pic>
      <p:pic>
        <p:nvPicPr>
          <p:cNvPr id="7" name="圖片 6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3C2BC6C3-3919-FF54-2DA5-325A178BE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25059"/>
            <a:ext cx="3781953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8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32173-9695-8E1D-90C6-9C82BC7F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9C44C2D1-C43F-2666-1280-A99F2BF08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58" y="1618997"/>
            <a:ext cx="6506483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94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7000A-FD97-496C-6FEC-3445BDAE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收據, 白色 的圖片&#10;&#10;AI 產生的內容可能不正確。">
            <a:extLst>
              <a:ext uri="{FF2B5EF4-FFF2-40B4-BE49-F238E27FC236}">
                <a16:creationId xmlns:a16="http://schemas.microsoft.com/office/drawing/2014/main" id="{B91032EB-AD3E-A0DC-8169-B046BD325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232" y="2395393"/>
            <a:ext cx="6525536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5E45-4C6B-F592-C2EA-BC2FAB2A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71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5C26-747B-0BFD-D21C-9FA56839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524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233</Words>
  <Application>Microsoft Office PowerPoint</Application>
  <PresentationFormat>寬螢幕</PresentationFormat>
  <Paragraphs>24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9</cp:revision>
  <dcterms:created xsi:type="dcterms:W3CDTF">2025-12-24T04:59:35Z</dcterms:created>
  <dcterms:modified xsi:type="dcterms:W3CDTF">2025-12-27T08:08:24Z</dcterms:modified>
</cp:coreProperties>
</file>